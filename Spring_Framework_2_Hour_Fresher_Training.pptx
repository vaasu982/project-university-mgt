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we are building mental models first, then connecting them to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Spring is a framework, not a replacement for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business logic with infrastructure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what happens if EmailNotification becomes SmsNotification?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core idea without yet going deep into the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first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IoC is the broader principle; DI is a common way Spring implements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customer requests a dish; kitchen assembles ingredients, tools and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 is easier to teach as “object receives what it needs.”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this is plain Java first; Spring simply performs the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setter injection is a valid tool, but field injection is generally discouraged for core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ApplicationContext is the type freshers will encounter most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at comparison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key checkpoint; ask learners to explain the chain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Clarify: not every Java object is automatically a bean.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evolution: XML → annotations → Java configuration. All are still useful for understanding legacy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spend too long here; the purpose is to make XML understandable.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stereotype family and keep each annotation's semantic distinction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useful when the class is third-party or when construction needs explicit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fresher issue: scanning the wrong package or a package that is not a parent of the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categories: stereotypes, injection, configuration,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classic fresher interview and debugging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simple; no Spring Boot property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lifecycle at a conceptual level, then mention callbacks.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lifecycle callback behavior depends on how the bean is created/managed.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logging, security and transactions as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examples simple and avoid diving into AspectJ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prepare learners for @Transactional and other 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problem solved, not every JdbcTemplate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tiny query example and explain RowMapper conceptually.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debit one account and credit another. Either both happen or neither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transaction management commonly uses AOP/proxies.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high-value interview/debugging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intentionally concise; the goal is request flow, not MVC mastery.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synthesis slide; point to where each Spring concept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intentionally small: show structure, not production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learners to explain the chain without looking at earlier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compact reference slide for later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this left-to-right twice: once for startup, once for a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a debugging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answers before revealing your own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three memorable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Spring Boot only as the next step; do not teach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your instructor control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Spring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7E1EE"/>
                </a:solidFill>
                <a:latin typeface="Aptos"/>
              </a:defRPr>
            </a:pPr>
            <a:r>
              <a:t>Core concepts for Java freshers — without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2743200" cy="594360"/>
          </a:xfrm>
          <a:prstGeom prst="roundRect">
            <a:avLst/>
          </a:prstGeom>
          <a:solidFill>
            <a:srgbClr val="23364F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2-hour instructor-led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3931920" cy="594360"/>
          </a:xfrm>
          <a:prstGeom prst="roundRect">
            <a:avLst/>
          </a:prstGeom>
          <a:solidFill>
            <a:srgbClr val="23364F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WHY → CONCEPT → CODE → TAKEAWAY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Learning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A practical path from plain Java to a Spring-managed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2412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1. Why Spring? — problems in traditional Java applications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2. IoC, DI, Container and Beans — the foundation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3. Configuration, annotations and component scanning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4. Bean lifecycle and AOP — how Spring manages behavior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5. Data access, transactions and a brief Spring MVC view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6. End-to-end application + recap + interview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Speaker notes: Set expectations: we are building mental models first, then connecting them to code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005840"/>
            <a:ext cx="1143000" cy="1143000"/>
          </a:xfrm>
          <a:prstGeom prst="ellipse">
            <a:avLst/>
          </a:prstGeom>
          <a:solidFill>
            <a:srgbClr val="21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051560"/>
            <a:ext cx="8961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Why Spring?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2606040"/>
            <a:ext cx="1920240" cy="502920"/>
          </a:xfrm>
          <a:prstGeom prst="roundRect">
            <a:avLst/>
          </a:prstGeom>
          <a:solidFill>
            <a:srgbClr val="25374F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~12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4290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4EE"/>
                </a:solidFill>
                <a:latin typeface="Aptos"/>
              </a:defRPr>
            </a:pPr>
            <a:r>
              <a:t>Understand the problems Spring was designed to solve and the value proposition before learning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WHY SPRING?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What is the Spring Framework?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A modular framework for building maintainable Java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An open-source framework for enterprise Java development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Provides infrastructure so application code can focus on business logic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Core idea: the framework manages object creation, dependencies and lifecycle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Modular: use only the Spring projects/features your application needs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Spring Boot is intentionally out of scope for this session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440680"/>
            <a:ext cx="7863840" cy="64008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Think: “Let Spring handle plumbing; I write business logic.”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Speaker notes: Emphasize that Spring is a framework, not a replacement for Java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WHY SPRING?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Why was Spring introduced?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pain was less about Java itself and more about application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12080" cy="50292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Traditional pain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212080" cy="5029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Spring's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Tight coupling between classes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Manual object creation everywhere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Hard-to-change implementations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Repetitive JDBC / transaction code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Cross-cutting concerns mixed into business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Dependency Injection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Container-managed objects (beans)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Templates &amp; infrastructure abstractions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AOP for cross-cutting concerns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Declarative transaction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2" name="Speaker notes: Contrast business logic with infrastructure concern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WHY SPRING?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Before Spring: tight 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A change in one implementation can ripple through the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120640" cy="338328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500">
                <a:solidFill>
                  <a:srgbClr val="FFFFFF"/>
                </a:solidFill>
                <a:latin typeface="Consolas"/>
              </a:defRPr>
            </a:pPr>
            <a:r>
              <a:t>class OrderService {</a:t>
            </a:r>
            <a:br/>
            <a:r>
              <a:t>    private EmailNotification notification =</a:t>
            </a:r>
            <a:br/>
            <a:r>
              <a:t>        new EmailNotification();</a:t>
            </a:r>
            <a:br/>
            <a:br/>
            <a:r>
              <a:t>    void placeOrder(Order order) {</a:t>
            </a:r>
            <a:br/>
            <a:r>
              <a:t>        // business logic</a:t>
            </a:r>
            <a:br/>
            <a:r>
              <a:t>        notification.send(order);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38328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500">
                <a:solidFill>
                  <a:srgbClr val="FFFFFF"/>
                </a:solidFill>
                <a:latin typeface="Consolas"/>
              </a:defRPr>
            </a:pPr>
            <a:r>
              <a:t>Problem:</a:t>
            </a:r>
            <a:br/>
            <a:r>
              <a:t>OrderService decides HOW</a:t>
            </a:r>
            <a:br/>
            <a:r>
              <a:t>to create its dependency.</a:t>
            </a:r>
            <a:br/>
            <a:br/>
            <a:r>
              <a:t>Changing the implementation</a:t>
            </a:r>
            <a:br/>
            <a:r>
              <a:t>requires changing OrderService.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5440680"/>
            <a:ext cx="7863840" cy="594360"/>
          </a:xfrm>
          <a:prstGeom prst="roundRect">
            <a:avLst/>
          </a:prstGeom>
          <a:solidFill>
            <a:srgbClr val="FCF1E7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Coupling = knowledge of concrete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" name="Speaker notes: Ask: what happens if EmailNotification becomes SmsNotification?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WHY SPRING?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After Spring: dependency is supplied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class depends on an abstraction; construction moves outside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486400" cy="393192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interface Notification {</a:t>
            </a:r>
            <a:br/>
            <a:r>
              <a:t>    void send(Order order);</a:t>
            </a:r>
            <a:br/>
            <a:r>
              <a:t>}</a:t>
            </a:r>
            <a:br/>
            <a:br/>
            <a:r>
              <a:t>class OrderService {</a:t>
            </a:r>
            <a:br/>
            <a:r>
              <a:t>    private final Notification notification;</a:t>
            </a:r>
            <a:br/>
            <a:br/>
            <a:r>
              <a:t>    OrderService(Notification notification) {</a:t>
            </a:r>
            <a:br/>
            <a:r>
              <a:t>        this.notification = notification;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OrderService no longer creates Notification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A caller/container supplies the dependency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Implementation can change without changing OrderService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This is Dependency Injection — a practical form of IoC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" name="Speaker notes: Introduce the core idea without yet going deep into the container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WHY SPRING?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Spring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Spring sits around your application and supplies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00400" cy="64008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"/>
              </a:defRPr>
            </a:pPr>
            <a:r>
              <a:t>Spring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201168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43200"/>
            <a:ext cx="201168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201168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743200"/>
            <a:ext cx="201168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Infrastructure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3044952"/>
            <a:ext cx="16459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3044952"/>
            <a:ext cx="16459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3044952"/>
            <a:ext cx="1645921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2057400"/>
            <a:ext cx="0" cy="685800"/>
          </a:xfrm>
          <a:prstGeom prst="line">
            <a:avLst/>
          </a:prstGeom>
          <a:ln>
            <a:solidFill>
              <a:srgbClr val="2A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17520" y="4572000"/>
            <a:ext cx="6126480" cy="64008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Creates • wires • configures • manages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8" name="Speaker notes: Use this as the first mental model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005840"/>
            <a:ext cx="1143000" cy="1143000"/>
          </a:xfrm>
          <a:prstGeom prst="ellipse">
            <a:avLst/>
          </a:prstGeom>
          <a:solidFill>
            <a:srgbClr val="21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051560"/>
            <a:ext cx="8961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IoC, DI &amp; the Spring Container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2606040"/>
            <a:ext cx="1920240" cy="502920"/>
          </a:xfrm>
          <a:prstGeom prst="roundRect">
            <a:avLst/>
          </a:prstGeom>
          <a:solidFill>
            <a:srgbClr val="25374F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~25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4290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4EE"/>
                </a:solidFill>
                <a:latin typeface="Aptos"/>
              </a:defRPr>
            </a:pPr>
            <a:r>
              <a:t>Build the foundation: understand what the container does and how dependencies move into objects.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IoC — Inversion of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Who is responsible for creating and connecting objects?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12080" cy="50292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Without IoC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212080" cy="5029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With IoC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Application code controls construction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new creates dependencies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Classes decide their collaborators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Framework/container controls construction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Dependencies are supplied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Classes focus on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5303520"/>
            <a:ext cx="7223760" cy="64008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Control moves from application code →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Speaker notes: IoC is the broader principle; DI is a common way Spring implements it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Real-world analogy: restaurant kitchen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You order the outcome; you do not manage every internal dependency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01168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011680"/>
            <a:ext cx="2743200" cy="64008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Kitchen / 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201168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Dish / Result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331720"/>
            <a:ext cx="100584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75120" y="2331720"/>
            <a:ext cx="11887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3657600"/>
            <a:ext cx="987552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Customer ≈ application code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Kitchen ≈ Spring Container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Ingredients/tools ≈ dependencies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The customer should not construct the kitchen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4" name="Speaker notes: Analogy: customer requests a dish; kitchen assembles ingredients, tools and staff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Dependency Injection (DI)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Spring supplies an object's dependencies from outside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Dependency = another object a class needs to do its work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Injection = providing that dependency from outside the class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Constructor injection is the preferred default for required dependencies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Setter injection can be useful for optional or changeable dependencies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Field injection is concise but hides dependencies and is harder to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5349240"/>
            <a:ext cx="7040880" cy="64008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Good design: dependencies are explicit and replaceable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Speaker notes: DI is easier to teach as “object receives what it needs.”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Constructor injection — preferred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Required dependencies become part of the object's construction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6400800" cy="411480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class OrderService {</a:t>
            </a:r>
            <a:br/>
            <a:r>
              <a:t>    private final Notification notification;</a:t>
            </a:r>
            <a:br/>
            <a:br/>
            <a:r>
              <a:t>    OrderService(Notification notification) {</a:t>
            </a:r>
            <a:br/>
            <a:r>
              <a:t>        this.notification = notification;</a:t>
            </a:r>
            <a:br/>
            <a:r>
              <a:t>    }</a:t>
            </a:r>
            <a:br/>
            <a:br/>
            <a:r>
              <a:t>    void placeOrder(Order order) {</a:t>
            </a:r>
            <a:br/>
            <a:r>
              <a:t>        notification.send(order);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74519"/>
            <a:ext cx="3749039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Explicit dependency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Works naturally with final fields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Easy unit testing with a mock/fake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Object cannot exist in an invalid “missing dependency”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Speaker notes: Show that this is plain Java first; Spring simply performs the construction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Setter vs field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Know the trade-offs; do not memorize syntax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12080" cy="50292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Setter injection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212080" cy="5029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Field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Dependency can be changed after construction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Useful for optional dependencies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More mutable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Very little boilerplate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Dependency is hidden in the class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Harder to instantiate/test without Spring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Generally avoid for required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Speaker notes: Explain that setter injection is a valid tool, but field injection is generally discouraged for core dependencie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Spring Container: the central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container creates and manages Spring Beans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1031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828800"/>
            <a:ext cx="2560320" cy="64008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Spring 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828800"/>
            <a:ext cx="21031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Managed Beans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148840"/>
            <a:ext cx="731519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" y="2148840"/>
            <a:ext cx="82296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3337560"/>
            <a:ext cx="978408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Reads configuration / metadata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Creates objects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Resolves and injects dependencies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Applies lifecycle callbacks and other container services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Returns objects through ApplicationContext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4" name="Speaker notes: The ApplicationContext is the type freshers will encounter most often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BeanFactory vs ApplicationContext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Both are IoC containers; ApplicationContext adds enterprise-friendly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212080" cy="50292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BeanFactory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212080" cy="5029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ApplicationContext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Basic IoC container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Core bean creation &amp; wiring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Lower-level API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Useful for understanding the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5000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Builds on BeanFactory concepts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Event publication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Message/resource support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Common choice for 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5349240"/>
            <a:ext cx="6949440" cy="59436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For most application code: think ApplicationContext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3" name="Speaker notes: Keep this at comparison level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IOC / 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The beginner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Keep these six concepts connected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60020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3F"/>
                </a:solidFill>
                <a:latin typeface="Aptos"/>
              </a:defRPr>
            </a:pPr>
            <a:r>
              <a:t>Configuration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468880"/>
            <a:ext cx="301752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04872" y="2103120"/>
            <a:ext cx="160020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3F"/>
                </a:solidFill>
                <a:latin typeface="Aptos"/>
              </a:defRPr>
            </a:pPr>
            <a:r>
              <a:t>Component Scanning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05072" y="2468880"/>
            <a:ext cx="301752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06824" y="2103120"/>
            <a:ext cx="160020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3F"/>
                </a:solidFill>
                <a:latin typeface="Aptos"/>
              </a:defRPr>
            </a:pPr>
            <a:r>
              <a:t>Spring Container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07024" y="2468880"/>
            <a:ext cx="301752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08776" y="2103120"/>
            <a:ext cx="160020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3F"/>
                </a:solidFill>
                <a:latin typeface="Aptos"/>
              </a:defRPr>
            </a:pPr>
            <a:r>
              <a:t>Spring Bean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08975" y="2468880"/>
            <a:ext cx="301753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10728" y="2103120"/>
            <a:ext cx="160020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3F"/>
                </a:solidFill>
                <a:latin typeface="Aptos"/>
              </a:defRPr>
            </a:pPr>
            <a:r>
              <a:t>Dependency Injection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10928" y="2468880"/>
            <a:ext cx="301752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12680" y="2103120"/>
            <a:ext cx="1600200" cy="7315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3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114800"/>
            <a:ext cx="8321040" cy="7315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Config tells Spring WHAT exists → Container builds it → DI connects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20" name="Speaker notes: This slide is a key checkpoint; ask learners to explain the chain in their own word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005840"/>
            <a:ext cx="1143000" cy="1143000"/>
          </a:xfrm>
          <a:prstGeom prst="ellipse">
            <a:avLst/>
          </a:prstGeom>
          <a:solidFill>
            <a:srgbClr val="21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051560"/>
            <a:ext cx="8961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Beans, Configuration &amp; Annotations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2606040"/>
            <a:ext cx="1920240" cy="502920"/>
          </a:xfrm>
          <a:prstGeom prst="roundRect">
            <a:avLst/>
          </a:prstGeom>
          <a:solidFill>
            <a:srgbClr val="25374F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~22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4290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4EE"/>
                </a:solidFill>
                <a:latin typeface="Aptos"/>
              </a:defRPr>
            </a:pPr>
            <a:r>
              <a:t>Learn how Spring knows what to create, how beans are discovered, and how common annotations work together.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What is a Spring Bean?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A Java object managed by the Spring IoC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33272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Any object instantiated, configured and managed by the Spring container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Bean metadata tells Spring how/when to create it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Beans can be discovered through component scanning or declared explicitly</a:t>
            </a:r>
          </a:p>
          <a:p>
            <a:pPr>
              <a:spcAft>
                <a:spcPts val="900"/>
              </a:spcAft>
              <a:defRPr sz="1900" b="0">
                <a:solidFill>
                  <a:srgbClr val="232B34"/>
                </a:solidFill>
                <a:latin typeface="Aptos"/>
              </a:defRPr>
            </a:pPr>
            <a:r>
              <a:t>Beans can be injected into other beans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892040"/>
            <a:ext cx="7498079" cy="68580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Java object + Spring container management = Spring Bean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0" name="Speaker notes: Clarify: not every Java object is automatically a bean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Configuration styles evolved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goal is the same: tell Spring which objects to manage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01168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"/>
              </a:defRPr>
            </a:pPr>
            <a:r>
              <a:t>XML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28800"/>
            <a:ext cx="246888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"/>
              </a:defRPr>
            </a:pPr>
            <a:r>
              <a:t>Annotations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83464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63F"/>
                </a:solidFill>
                <a:latin typeface="Aptos"/>
              </a:defRPr>
            </a:pPr>
            <a:r>
              <a:t>Java @Configuration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167128"/>
            <a:ext cx="9601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55080" y="2167128"/>
            <a:ext cx="9601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3383280"/>
            <a:ext cx="97840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XML: explicit, verbose, common in older Spring systems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Annotations: metadata next to the class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Java config: type-safe configuration using @Bean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4" name="Speaker notes: Show evolution: XML → annotations → Java configuration. All are still useful for understanding legacy application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XML configuration — the legacy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Still worth reading because many enterprise systems use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5577840" cy="320040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&lt;bean id="notification"</a:t>
            </a:r>
            <a:br/>
            <a:r>
              <a:t>      class="com.acme.EmailNotification"/&gt;</a:t>
            </a:r>
            <a:br/>
            <a:br/>
            <a:r>
              <a:t>&lt;bean id="orderService"</a:t>
            </a:r>
            <a:br/>
            <a:r>
              <a:t>      class="com.acme.OrderService"&gt;</a:t>
            </a:r>
            <a:br/>
            <a:r>
              <a:t>    &lt;constructor-arg ref="notification"/&gt;</a:t>
            </a:r>
            <a:br/>
            <a:r>
              <a:t>&lt;/bean&gt;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828800"/>
            <a:ext cx="40233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Bean id = name/reference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class = implementation Spring should instantiate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constructor-arg ref = dependency wiring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Same DI idea — different configuration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Speaker notes: Do not spend too long here; the purpose is to make XML understandable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Annotation-based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Stereotypes tell Spring which classes should become beans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5486400" cy="384048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@Component</a:t>
            </a:r>
            <a:br/>
            <a:r>
              <a:t>class EmailNotification { }</a:t>
            </a:r>
            <a:br/>
            <a:br/>
            <a:r>
              <a:t>@Service</a:t>
            </a:r>
            <a:br/>
            <a:r>
              <a:t>class OrderService { }</a:t>
            </a:r>
            <a:br/>
            <a:br/>
            <a:r>
              <a:t>@Repository</a:t>
            </a:r>
            <a:br/>
            <a:r>
              <a:t>class OrderRepository { }</a:t>
            </a:r>
            <a:br/>
            <a:br/>
            <a:r>
              <a:t>@Controller</a:t>
            </a:r>
            <a:br/>
            <a:r>
              <a:t>class OrderController {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All are component stereotypes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@Service, @Repository, @Controller communicate role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Spring discovers them when component scanning is enabled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Use the most specific stereotype for readability and framework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0" name="Speaker notes: Introduce the stereotype family and keep each annotation's semantic distinction clear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Java-based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Explicit bean creation with @Configuration + @Bean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6492240" cy="420624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@Configuration</a:t>
            </a:r>
            <a:br/>
            <a:r>
              <a:t>class AppConfig {</a:t>
            </a:r>
            <a:br/>
            <a:br/>
            <a:r>
              <a:t>    @Bean</a:t>
            </a:r>
            <a:br/>
            <a:r>
              <a:t>    Notification notification() {</a:t>
            </a:r>
            <a:br/>
            <a:r>
              <a:t>        return new EmailNotification();</a:t>
            </a:r>
            <a:br/>
            <a:r>
              <a:t>    }</a:t>
            </a:r>
            <a:br/>
            <a:br/>
            <a:r>
              <a:t>    @Bean</a:t>
            </a:r>
            <a:br/>
            <a:r>
              <a:t>    OrderService orderService(</a:t>
            </a:r>
            <a:br/>
            <a:r>
              <a:t>            Notification n) {</a:t>
            </a:r>
            <a:br/>
            <a:r>
              <a:t>        return new OrderService(n);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36576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@Configuration = configuration class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@Bean = method whose return object becomes a bean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Spring resolves method-parameter dependencies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Useful for third-party classes or custom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0" name="Speaker notes: This is useful when the class is third-party or when construction needs explicit control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Component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Spring searches packages for component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6400800" cy="347472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AnnotationConfigApplicationContext ctx =</a:t>
            </a:r>
            <a:br/>
            <a:r>
              <a:t>    new AnnotationConfigApplicationContext(</a:t>
            </a:r>
            <a:br/>
            <a:r>
              <a:t>        AppConfig.class);</a:t>
            </a:r>
            <a:br/>
            <a:br/>
            <a:r>
              <a:t>@Configuration</a:t>
            </a:r>
            <a:br/>
            <a:r>
              <a:t>@ComponentScan("com.acme")</a:t>
            </a:r>
            <a:br/>
            <a:r>
              <a:t>class AppConfig {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74519"/>
            <a:ext cx="365760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Spring scans the specified package and subpackages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Finds @Component and stereotype annotations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Registers bean definitions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Container then creates/wires beans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5349240"/>
            <a:ext cx="7772400" cy="594360"/>
          </a:xfrm>
          <a:prstGeom prst="roundRect">
            <a:avLst/>
          </a:prstGeom>
          <a:solidFill>
            <a:srgbClr val="FCF1E7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Mistake: @Component exists, but its package is outside the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1" name="Speaker notes: Common fresher issue: scanning the wrong package or a package that is not a parent of the component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Important annotations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Group them by purpose, not by memorization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212080" cy="50292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Stereotypes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212080" cy="5029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Wiring &amp;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@Component — generic component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@Service — service/business layer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@Repository — persistence layer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@Controller — MVC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5856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@Autowired — inject dependency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@Qualifier — select named implementation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@Primary — default candidate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@Configuration / @Bean / @ComponentScan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@Value — inject property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2" name="Speaker notes: Explain the categories: stereotypes, injection, configuration, value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@Autowired, @Qualifier and @Primary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What if multiple beans implement the same interface?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583680" cy="402336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interface Payment { }</a:t>
            </a:r>
            <a:br/>
            <a:br/>
            <a:r>
              <a:t>@Component</a:t>
            </a:r>
            <a:br/>
            <a:r>
              <a:t>class CardPayment implements Payment { }</a:t>
            </a:r>
            <a:br/>
            <a:br/>
            <a:r>
              <a:t>@Component</a:t>
            </a:r>
            <a:br/>
            <a:r>
              <a:t>@Primary</a:t>
            </a:r>
            <a:br/>
            <a:r>
              <a:t>class UpiPayment implements Payment { }</a:t>
            </a:r>
            <a:br/>
            <a:br/>
            <a:r>
              <a:t>@Service</a:t>
            </a:r>
            <a:br/>
            <a:r>
              <a:t>class CheckoutService {</a:t>
            </a:r>
            <a:br/>
            <a:r>
              <a:t>    CheckoutService(Payment payment) {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36576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One candidate → inject it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Multiple candidates → ambiguity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@Primary marks the default candidate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@Qualifier selects a specific candidate explicitly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0" name="Speaker notes: This is a classic fresher interview and debugging scenario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BEANS &amp;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@Value — configuration without hard-coding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Inject a property value into a bean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6400800" cy="3749039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app.currency=INR</a:t>
            </a:r>
            <a:br/>
            <a:br/>
            <a:r>
              <a:t>@Component</a:t>
            </a:r>
            <a:br/>
            <a:r>
              <a:t>class PriceFormatter {</a:t>
            </a:r>
            <a:br/>
            <a:r>
              <a:t>    private final String currency;</a:t>
            </a:r>
            <a:br/>
            <a:br/>
            <a:r>
              <a:t>    PriceFormatter(</a:t>
            </a:r>
            <a:br/>
            <a:r>
              <a:t>      @Value("${app.currency}") String currency) {</a:t>
            </a:r>
            <a:br/>
            <a:r>
              <a:t>        this.currency = currency;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28800"/>
            <a:ext cx="3749039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Value can come from configured property sources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Avoid hard-coded environment-specific values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For larger configuration models, explore Spring Environment / property binding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Speaker notes: Keep it simple; no Spring Boot property convention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005840"/>
            <a:ext cx="1143000" cy="1143000"/>
          </a:xfrm>
          <a:prstGeom prst="ellipse">
            <a:avLst/>
          </a:prstGeom>
          <a:solidFill>
            <a:srgbClr val="21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051560"/>
            <a:ext cx="8961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Bean Lifecycle &amp; AOP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2606040"/>
            <a:ext cx="1920240" cy="502920"/>
          </a:xfrm>
          <a:prstGeom prst="roundRect">
            <a:avLst/>
          </a:prstGeom>
          <a:solidFill>
            <a:srgbClr val="25374F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~16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4290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4EE"/>
                </a:solidFill>
                <a:latin typeface="Aptos"/>
              </a:defRPr>
            </a:pPr>
            <a:r>
              <a:t>Understand how Spring manages bean creation and how AOP handles cross-cutting concerns.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LIFECYCLE &amp;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Bean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Spring manages more than just object 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18288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Instantiate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395728"/>
            <a:ext cx="45720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057400"/>
            <a:ext cx="18288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Inject dependencies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2395728"/>
            <a:ext cx="45720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66360" y="2057400"/>
            <a:ext cx="18288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Initialize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95160" y="2395728"/>
            <a:ext cx="45720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2360" y="2057400"/>
            <a:ext cx="18288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2395728"/>
            <a:ext cx="45720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2057400"/>
            <a:ext cx="18288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Destroy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97840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@PostConstruct → initialization callback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@PreDestroy → destruction callback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InitializingBean / DisposableBean exist, but are more coupled to Spring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8" name="Speaker notes: Explain lifecycle at a conceptual level, then mention callback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LIFECYCLE &amp;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Lifecycle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Use callbacks for initialization/cleanup, not business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6400800" cy="393192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400">
                <a:solidFill>
                  <a:srgbClr val="FFFFFF"/>
                </a:solidFill>
                <a:latin typeface="Consolas"/>
              </a:defRPr>
            </a:pPr>
            <a:r>
              <a:t>@Component</a:t>
            </a:r>
            <a:br/>
            <a:r>
              <a:t>class ConnectionManager {</a:t>
            </a:r>
            <a:br/>
            <a:br/>
            <a:r>
              <a:t>    @PostConstruct</a:t>
            </a:r>
            <a:br/>
            <a:r>
              <a:t>    void init() {</a:t>
            </a:r>
            <a:br/>
            <a:r>
              <a:t>        // initialize resources</a:t>
            </a:r>
            <a:br/>
            <a:r>
              <a:t>    }</a:t>
            </a:r>
            <a:br/>
            <a:br/>
            <a:r>
              <a:t>    @PreDestroy</a:t>
            </a:r>
            <a:br/>
            <a:r>
              <a:t>    void close() {</a:t>
            </a:r>
            <a:br/>
            <a:r>
              <a:t>        // release resources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36576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Good: resource initialization/cleanup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Avoid heavy or slow startup logic when possible</a:t>
            </a:r>
          </a:p>
          <a:p>
            <a:pPr>
              <a:spcAft>
                <a:spcPts val="9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A bean created outside Spring will not receive Spring lifecycle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0" name="Speaker notes: Mention that lifecycle callback behavior depends on how the bean is created/managed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LIFECYCLE &amp;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Why AOP? Cross-cutting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Some behavior applies across many business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19456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43000"/>
            <a:ext cx="1920240" cy="5486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Logging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20240"/>
            <a:ext cx="1920240" cy="5486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697480"/>
            <a:ext cx="1920240" cy="54864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Transactions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108960" y="1417320"/>
            <a:ext cx="548640" cy="749808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2167128"/>
            <a:ext cx="548640" cy="27432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2167128"/>
            <a:ext cx="548640" cy="804672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92240" y="1600200"/>
            <a:ext cx="45720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AOP separates cross-cutting concerns from core business code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Spring commonly implements AOP using proxies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For freshers: know the vocabulary and the “why”; advanced pointcuts can come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16" name="Speaker notes: Use logging, security and transactions as example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LIFECYCLE &amp;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AOP vocabulary — just enough for a fresher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Five terms make most Spring AOP conversations understandable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24128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Aspect — module containing cross-cutting behavior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Advice — what runs (before, after, around, etc.)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Pointcut — where the advice should apply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Join point — a point in execution where advice can apply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Proxy — wrapper object that intercepts calls and invokes advice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5349240"/>
            <a:ext cx="7406640" cy="59436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Method call → Proxy → Advice → Target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0" name="Speaker notes: Keep examples simple and avoid diving into AspectJ internal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LIFECYCLE &amp; AOP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Spring AOP —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proxy is often the “magic” beginners are seeing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16459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011680"/>
            <a:ext cx="2194560" cy="64008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Spring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201168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Target Bean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11680"/>
            <a:ext cx="2560320" cy="640080"/>
          </a:xfrm>
          <a:prstGeom prst="roundRect">
            <a:avLst/>
          </a:prstGeom>
          <a:solidFill>
            <a:srgbClr val="FCF1E7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Cross-cutting logic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331720"/>
            <a:ext cx="64008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2331720"/>
            <a:ext cx="64008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79" y="2331720"/>
            <a:ext cx="731521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86000" y="4023360"/>
            <a:ext cx="7589520" cy="68580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Proxy can run advice before/after the target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16" name="Speaker notes: Use this to prepare learners for @Transactional and other annotation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005840"/>
            <a:ext cx="1143000" cy="1143000"/>
          </a:xfrm>
          <a:prstGeom prst="ellipse">
            <a:avLst/>
          </a:prstGeom>
          <a:solidFill>
            <a:srgbClr val="21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051560"/>
            <a:ext cx="8961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Data Access &amp;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2606040"/>
            <a:ext cx="1920240" cy="502920"/>
          </a:xfrm>
          <a:prstGeom prst="roundRect">
            <a:avLst/>
          </a:prstGeom>
          <a:solidFill>
            <a:srgbClr val="25374F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~14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4290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4EE"/>
                </a:solidFill>
                <a:latin typeface="Aptos"/>
              </a:defRPr>
            </a:pPr>
            <a:r>
              <a:t>See how Spring reduces JDBC boilerplate and adds declarative transaction management.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DATA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Spring JDBC: why JdbcTemplate?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Plain JDBC repeats the same plumbing around every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212080" cy="50292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Plain JDBC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00200"/>
            <a:ext cx="5212080" cy="5029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JdbcTemplate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Get connection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Prepare statement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Set parameters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Execute query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Map ResultSet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Close resources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Handle SQL 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58568"/>
            <a:ext cx="48920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Manages common JDBC plumbing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Executes SQL with concise APIs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Maps rows to objects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Translates JDBC exceptions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2" name="Speaker notes: Focus on the problem solved, not every JdbcTemplate API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DATA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JdbcTemplate — small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SQL and mapping remain explicit; infrastructure code is reduced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7315200" cy="429768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class OrderRepository {</a:t>
            </a:r>
            <a:br/>
            <a:r>
              <a:t>    private final JdbcTemplate jdbc;</a:t>
            </a:r>
            <a:br/>
            <a:br/>
            <a:r>
              <a:t>    Order find(long id) {</a:t>
            </a:r>
            <a:br/>
            <a:r>
              <a:t>        return jdbc.queryForObject(</a:t>
            </a:r>
            <a:br/>
            <a:r>
              <a:t>          "select id, total from orders where id=?",</a:t>
            </a:r>
            <a:br/>
            <a:r>
              <a:t>          (rs, row) -&gt; new Order(</a:t>
            </a:r>
            <a:br/>
            <a:r>
              <a:t>              rs.getLong("id"),</a:t>
            </a:r>
            <a:br/>
            <a:r>
              <a:t>              rs.getBigDecimal("total")),</a:t>
            </a:r>
            <a:br/>
            <a:r>
              <a:t>          id);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283464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Spring handles connection/resource plumbing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Repository still owns SQL and mapping decisions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SQLException-style checked exceptions are translated into Spring's data-access hierarchy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10" name="Speaker notes: Use a tiny query example and explain RowMapper conceptually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DATA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Transactions: the business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A business operation may require multiple database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011680"/>
            <a:ext cx="18288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Debit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011680"/>
            <a:ext cx="1828800" cy="68580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Transfer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011680"/>
            <a:ext cx="182880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Credit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350008"/>
            <a:ext cx="201168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350008"/>
            <a:ext cx="201168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03120" y="4114800"/>
            <a:ext cx="8046720" cy="7315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Transaction boundary: success → commit | failure → 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4" name="Speaker notes: Example: debit one account and credit another. Either both happen or neither doe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DATA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@Transactional — declarative transaction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Tell Spring WHERE the transaction boundary is; Spring handles the mechanics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858000" cy="402336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@Service</a:t>
            </a:r>
            <a:br/>
            <a:r>
              <a:t>class TransferService {</a:t>
            </a:r>
            <a:br/>
            <a:br/>
            <a:r>
              <a:t>    @Transactional</a:t>
            </a:r>
            <a:br/>
            <a:r>
              <a:t>    public void transfer(</a:t>
            </a:r>
            <a:br/>
            <a:r>
              <a:t>        long from, long to, BigDecimal amount) {</a:t>
            </a:r>
            <a:br/>
            <a:br/>
            <a:r>
              <a:t>        accountRepository.debit(from, amount);</a:t>
            </a:r>
            <a:br/>
            <a:r>
              <a:t>        accountRepository.credit(to, amount);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828800"/>
            <a:ext cx="329184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Proxy starts/joins a transaction before the method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Target method runs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On successful completion → commit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On rollback-triggering failure → rollback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Exact rollback rules and transaction manager configuration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10" name="Speaker notes: Explain that transaction management commonly uses AOP/proxie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DATA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Beginner transaction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annotation alone is not the whole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Transaction management must be configured with an appropriate PlatformTransactionManager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Proxy-based transactions apply when the call goes through the managed proxy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Self-invocation can bypass proxy interception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Be clear about rollback rules for checked vs unchecked exceptions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Keep transaction boundaries around a coherent business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Speaker notes: These are high-value interview/debugging point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005840"/>
            <a:ext cx="1143000" cy="1143000"/>
          </a:xfrm>
          <a:prstGeom prst="ellipse">
            <a:avLst/>
          </a:prstGeom>
          <a:solidFill>
            <a:srgbClr val="21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051560"/>
            <a:ext cx="89611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Spring MVC &amp; End-to-End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2606040"/>
            <a:ext cx="1920240" cy="502920"/>
          </a:xfrm>
          <a:prstGeom prst="roundRect">
            <a:avLst/>
          </a:prstGeom>
          <a:solidFill>
            <a:srgbClr val="25374F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~13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42900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4EE"/>
                </a:solidFill>
                <a:latin typeface="Aptos"/>
              </a:defRPr>
            </a:pPr>
            <a:r>
              <a:t>Connect the concepts into a familiar Controller → Service → Repository → Database application.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MVC &amp;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Spring MVC — high-level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A web layer built on Spring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73736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HTTP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286000" cy="64008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DispatcherServlet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011680"/>
            <a:ext cx="173736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11680"/>
            <a:ext cx="155448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2011680"/>
            <a:ext cx="155448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Repository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331720"/>
            <a:ext cx="36576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0" y="2331720"/>
            <a:ext cx="45720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2331720"/>
            <a:ext cx="54864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26880" y="2331720"/>
            <a:ext cx="54864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DispatcherServlet is the front controller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Controller handles web concerns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Service contains business use cases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Repository handles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18" name="Speaker notes: Keep this intentionally concise; the goal is request flow, not MVC mastery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MVC &amp;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End-to-end Spring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One request can exercise almost every concept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6459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737360"/>
            <a:ext cx="16459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16459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737360"/>
            <a:ext cx="16459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164592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5C6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63F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057400"/>
            <a:ext cx="9144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23360" y="2057400"/>
            <a:ext cx="54864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0" y="2057400"/>
            <a:ext cx="54864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12480" y="2057400"/>
            <a:ext cx="54864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246120"/>
            <a:ext cx="2926080" cy="59436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IoC / DI wires the layers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246120"/>
            <a:ext cx="3108960" cy="59436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Beans are managed by the Container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3246120"/>
            <a:ext cx="3749039" cy="594360"/>
          </a:xfrm>
          <a:prstGeom prst="roundRect">
            <a:avLst/>
          </a:prstGeom>
          <a:solidFill>
            <a:srgbClr val="FCF1E7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AOP / @Transactional wraps selected operations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8840" y="4343400"/>
            <a:ext cx="301752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Component scanning discovers the 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43400"/>
            <a:ext cx="329184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JdbcTemplate simplifies persistence plumbing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22" name="Speaker notes: Use this as the synthesis slide; point to where each Spring concept fit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MVC &amp;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Small end-to-end code 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Keep each layer focused on one responsibility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7680960" cy="4480560"/>
          </a:xfrm>
          <a:prstGeom prst="roundRect">
            <a:avLst/>
          </a:prstGeom>
          <a:solidFill>
            <a:srgbClr val="1D2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@Controller</a:t>
            </a:r>
            <a:br/>
            <a:r>
              <a:t>class OrderController {</a:t>
            </a:r>
            <a:br/>
            <a:r>
              <a:t>    private final OrderService service;</a:t>
            </a:r>
            <a:br/>
            <a:r>
              <a:t>    OrderController(OrderService service) { this.service = service; }</a:t>
            </a:r>
            <a:br/>
            <a:r>
              <a:t>}</a:t>
            </a:r>
            <a:br/>
            <a:br/>
            <a:r>
              <a:t>@Service</a:t>
            </a:r>
            <a:br/>
            <a:r>
              <a:t>class OrderService {</a:t>
            </a:r>
            <a:br/>
            <a:r>
              <a:t>    private final OrderRepository repo;</a:t>
            </a:r>
            <a:br/>
            <a:r>
              <a:t>    OrderService(OrderRepository repo) { this.repo = repo; }</a:t>
            </a:r>
            <a:br/>
            <a:br/>
            <a:r>
              <a:t>    @Transactional</a:t>
            </a:r>
            <a:br/>
            <a:r>
              <a:t>    void place(Order order) { repo.save(order); }</a:t>
            </a:r>
            <a:br/>
            <a:r>
              <a:t>}</a:t>
            </a:r>
            <a:br/>
            <a:br/>
            <a:r>
              <a:t>@Repository</a:t>
            </a:r>
            <a:br/>
            <a:r>
              <a:t>class OrderRepository {</a:t>
            </a:r>
            <a:br/>
            <a:r>
              <a:t>    // JdbcTemplate-based persistence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737360"/>
            <a:ext cx="274320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@ComponentScan finds the classes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Container creates beans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Constructor injection wires them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@Transactional adds a transaction boundary through proxy/AOP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10" name="Speaker notes: This is intentionally small: show structure, not production complexity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Core concepts — one-page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If learners remember one slide, make it this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46304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IoC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645920"/>
            <a:ext cx="146304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645920"/>
            <a:ext cx="173736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Container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146304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63F"/>
                </a:solidFill>
                <a:latin typeface="Aptos"/>
              </a:defRPr>
            </a:pPr>
            <a:r>
              <a:t>Bean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45920"/>
            <a:ext cx="155448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645920"/>
            <a:ext cx="1554480" cy="6400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102412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IoC = control of object creation/wiring is moved to the framework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DI = dependencies are supplied from outside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Container = runtime that creates/configures/manages beans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Bean = object managed by that container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Configuration + component scanning = how Spring learns what to manage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AOP/transactions/data access/MVC = infrastructure around the core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15" name="Speaker notes: Ask learners to explain the chain without looking at earlier slide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Important annotations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Use the annotation based on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@Component — generic managed component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@Service — business/service layer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@Repository — persistence/data-access layer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@Controller — Spring MVC web controller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@Autowired — dependency injection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@Qualifier — choose a specific bean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@Primary — default candidate among multiple beans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@Configuration — Java configuration class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@Bean — explicitly register a returned object as a bean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@ComponentScan — discover component classes</a:t>
            </a:r>
          </a:p>
          <a:p>
            <a:pPr>
              <a:spcAft>
                <a:spcPts val="900"/>
              </a:spcAft>
              <a:defRPr sz="1500" b="0">
                <a:solidFill>
                  <a:srgbClr val="232B34"/>
                </a:solidFill>
                <a:latin typeface="Aptos"/>
              </a:defRPr>
            </a:pPr>
            <a:r>
              <a:t>@Value — inject configured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Speaker notes: A compact reference slide for later revision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Spring application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From startup to a business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92024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1. Read 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45920"/>
            <a:ext cx="210312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2. Scan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28600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1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3. Create + wire beans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45920"/>
            <a:ext cx="192024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4. Serve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645920"/>
            <a:ext cx="1737360" cy="5943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63F"/>
                </a:solidFill>
                <a:latin typeface="Aptos"/>
              </a:defRPr>
            </a:pPr>
            <a:r>
              <a:t>5. Commit / rollback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1938528"/>
            <a:ext cx="2743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1938528"/>
            <a:ext cx="2743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1938528"/>
            <a:ext cx="2743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0" y="1938528"/>
            <a:ext cx="274320" cy="0"/>
          </a:xfrm>
          <a:prstGeom prst="line">
            <a:avLst/>
          </a:prstGeom>
          <a:ln>
            <a:solidFill>
              <a:srgbClr val="5C67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291840"/>
            <a:ext cx="100584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Startup: metadata → bean definitions → bean instances → dependencies/lifecycle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Request: DispatcherServlet → Controller → Service → Repository → DB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Cross-cutting behavior may be applied by Spring proxies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8" name="Speaker notes: Walk this left-to-right twice: once for startup, once for a request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Common fresher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These errors are usually mental-model problems, not syntax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42416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Creating a dependency with new instead of injecting the Spring bean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Component exists but is outside the component-scan package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Multiple implementations exist but no @Qualifier/@Primary decision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Using a bean before understanding who owns its lifecycle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Expecting @Transactional to work when the call bypasses the proxy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Putting database logic in Controller instead of Repository</a:t>
            </a:r>
          </a:p>
          <a:p>
            <a:pPr>
              <a:spcAft>
                <a:spcPts val="9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Thinking “Spring = annotations” and missing the container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9" name="Speaker notes: Use as a debugging checklist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Interview questions for freshers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Use these to check conceptual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7899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1. What is IoC? How is it different from DI?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2. What is a Spring Bean?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3. What is the role of ApplicationContext?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4. Constructor injection vs field injection — which do you prefer and why?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5. What does @ComponentScan do?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6. What happens if two beans match the same dependency?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7. What is a bean lifecycle?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8. Why is AOP useful in Spring?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9. How does @Transactional work at a high level?</a:t>
            </a:r>
          </a:p>
          <a:p>
            <a:pPr>
              <a:spcAft>
                <a:spcPts val="900"/>
              </a:spcAft>
              <a:defRPr sz="1400" b="0">
                <a:solidFill>
                  <a:srgbClr val="232B34"/>
                </a:solidFill>
                <a:latin typeface="Aptos"/>
              </a:defRPr>
            </a:pPr>
            <a:r>
              <a:t>10. What is the role of DispatcherServlet in Spring MVC?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9" name="Speaker notes: Invite answers before revealing your own explanation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The framework becomes easier once the mental model is clear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914400" cy="685800"/>
          </a:xfrm>
          <a:prstGeom prst="roundRect">
            <a:avLst/>
          </a:prstGeom>
          <a:solidFill>
            <a:srgbClr val="EBF1FA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63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91640"/>
            <a:ext cx="8686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Spring manages object creation, wiring and lifecycle so your code can focus on 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971800"/>
            <a:ext cx="914400" cy="68580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63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926080"/>
            <a:ext cx="8686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IoC + DI + Container + Beans are the foundation beneath most Spring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206240"/>
            <a:ext cx="914400" cy="685800"/>
          </a:xfrm>
          <a:prstGeom prst="roundRect">
            <a:avLst/>
          </a:prstGeom>
          <a:solidFill>
            <a:srgbClr val="FCF1E7"/>
          </a:solidFill>
          <a:ln w="19050">
            <a:solidFill>
              <a:srgbClr val="D57D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426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160520"/>
            <a:ext cx="8686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AOP, transactions, JDBC and MVC build on that foundation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5486400"/>
            <a:ext cx="4114800" cy="594360"/>
          </a:xfrm>
          <a:prstGeom prst="roundRect">
            <a:avLst/>
          </a:prstGeom>
          <a:solidFill>
            <a:srgbClr val="14263F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Next → Spring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15" name="Speaker notes: Close with three memorable statements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What to learn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Once these fundamentals are comfortable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4241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Spring Boot — next learning step for modern Spring application development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Spring MVC in depth — controllers, validation, exception handling, REST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Spring Data / JPA — persistence abstraction and ORM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Spring Security — authentication and authorization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Testing — Spring Test, Mockito, integration testing</a:t>
            </a:r>
          </a:p>
          <a:p>
            <a:pPr>
              <a:spcAft>
                <a:spcPts val="900"/>
              </a:spcAft>
              <a:defRPr sz="1800" b="0">
                <a:solidFill>
                  <a:srgbClr val="232B34"/>
                </a:solidFill>
                <a:latin typeface="Aptos"/>
              </a:defRPr>
            </a:pPr>
            <a:r>
              <a:t>Advanced Spring — events, caching, profiles, scheduling, custom AOP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5349240"/>
            <a:ext cx="7589520" cy="64008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63F"/>
                </a:solidFill>
                <a:latin typeface="Aptos"/>
              </a:defRPr>
            </a:pPr>
            <a:r>
              <a:t>Foundation first → frameworks become much easier to reason 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10" name="Speaker notes: Mention Spring Boot only as the next step; do not teach it here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A5CAA"/>
                </a:solidFill>
                <a:latin typeface="Aptos"/>
              </a:defRPr>
            </a:pPr>
            <a:r>
              <a:t>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3F"/>
                </a:solidFill>
                <a:latin typeface="Aptos Display"/>
              </a:defRPr>
            </a:pPr>
            <a:r>
              <a:t>Trainer's 2-hour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772"/>
                </a:solidFill>
                <a:latin typeface="Aptos"/>
              </a:defRPr>
            </a:pPr>
            <a:r>
              <a:t>Suggested pacing; compress optional items if discussion runs long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9202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508760"/>
            <a:ext cx="10058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508760"/>
            <a:ext cx="10058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4206240" cy="438912"/>
          </a:xfrm>
          <a:prstGeom prst="rect">
            <a:avLst/>
          </a:prstGeom>
          <a:solidFill>
            <a:srgbClr val="14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Emphasize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1508760"/>
            <a:ext cx="3017520" cy="438912"/>
          </a:xfrm>
          <a:prstGeom prst="rect">
            <a:avLst/>
          </a:prstGeom>
          <a:solidFill>
            <a:srgbClr val="14263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Skip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47672"/>
            <a:ext cx="1920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Why Spring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947672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1–8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947672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12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947672"/>
            <a:ext cx="4206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Problem → value proposition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947672"/>
            <a:ext cx="301752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Module details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14600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IoC / DI / Container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2514600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9–17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514600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25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514600"/>
            <a:ext cx="4206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Core mental model +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514600"/>
            <a:ext cx="3017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BeanFactory nuance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81528"/>
            <a:ext cx="1920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Beans / Config / Annotations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081528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18–27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081528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22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3081528"/>
            <a:ext cx="4206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Scanning + wiring + stereotypes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3081528"/>
            <a:ext cx="301752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XML detail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48456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Lifecycle / AOP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3648456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28–33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648456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16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648456"/>
            <a:ext cx="4206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Lifecycle + proxy mental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3648456"/>
            <a:ext cx="3017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Advanced pointcuts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15383"/>
            <a:ext cx="1920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Data / Transactions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4215383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34–39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4215383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14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215383"/>
            <a:ext cx="4206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JdbcTemplate + @Transactional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4215383"/>
            <a:ext cx="301752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Deep JDBC APIs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82312"/>
            <a:ext cx="1920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MVC / End-to-End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4782312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40–43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4782312"/>
            <a:ext cx="10058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13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4782312"/>
            <a:ext cx="42062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Request flow + architecture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4782312"/>
            <a:ext cx="3017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MVC internals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349240"/>
            <a:ext cx="1920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Recap / Q&amp;A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23160" y="5349240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44–50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5349240"/>
            <a:ext cx="10058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18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5349240"/>
            <a:ext cx="420624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Cheat sheet + interview questions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1080" y="5349240"/>
            <a:ext cx="301752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32B34"/>
                </a:solidFill>
                <a:latin typeface="Aptos"/>
              </a:defRPr>
            </a:pPr>
            <a:r>
              <a:t>Extra Q&amp;A if needed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57400" y="5897880"/>
            <a:ext cx="8046720" cy="502920"/>
          </a:xfrm>
          <a:prstGeom prst="roundRect">
            <a:avLst/>
          </a:prstGeom>
          <a:solidFill>
            <a:srgbClr val="EBF6F4"/>
          </a:solidFill>
          <a:ln w="19050">
            <a:solidFill>
              <a:srgbClr val="21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63F"/>
                </a:solidFill>
                <a:latin typeface="Aptos"/>
              </a:defRPr>
            </a:pPr>
            <a:r>
              <a:t>Total ≈ 120 minutes • Keep 5–10 minutes of flexibility for questions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2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49" name="Speaker notes: Use this as your instructor control slide.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Framework — 2-Hour Fresher Training</dc:title>
  <dc:subject>Spring Framework/Core training without Spring Boot</dc:subject>
  <dc:creator>Senior Java &amp; Spring Framework Training</dc:creator>
  <cp:keywords>Java, Spring Framework, IoC, DI, Beans, AOP, JDBC, Transactions, MVC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